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Bold" panose="00000800000000000000" charset="0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Times New Roman MT Condense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896A"/>
    <a:srgbClr val="FEF9F2"/>
    <a:srgbClr val="8A5B83"/>
    <a:srgbClr val="B6AE82"/>
    <a:srgbClr val="EFCABC"/>
    <a:srgbClr val="EFAD18"/>
    <a:srgbClr val="FDD8BE"/>
    <a:srgbClr val="579BE9"/>
    <a:srgbClr val="E9B1CD"/>
    <a:srgbClr val="5802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4C3066A-1774-D30B-061D-B39C4DC7D7E0}"/>
              </a:ext>
            </a:extLst>
          </p:cNvPr>
          <p:cNvSpPr/>
          <p:nvPr/>
        </p:nvSpPr>
        <p:spPr>
          <a:xfrm>
            <a:off x="0" y="0"/>
            <a:ext cx="18288000" cy="10401300"/>
          </a:xfrm>
          <a:prstGeom prst="rect">
            <a:avLst/>
          </a:prstGeom>
          <a:solidFill>
            <a:srgbClr val="AD89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7807" y="1569720"/>
            <a:ext cx="9251618" cy="3594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30"/>
              </a:lnSpc>
            </a:pPr>
            <a:r>
              <a:rPr lang="en-US" sz="16181" spc="-1084" dirty="0">
                <a:solidFill>
                  <a:schemeClr val="bg1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INDUS</a:t>
            </a:r>
          </a:p>
          <a:p>
            <a:pPr algn="ctr">
              <a:lnSpc>
                <a:spcPts val="13430"/>
              </a:lnSpc>
            </a:pPr>
            <a:r>
              <a:rPr lang="en-US" sz="16181" spc="-1084" dirty="0">
                <a:solidFill>
                  <a:schemeClr val="bg1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THREADS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72002" y="5753100"/>
            <a:ext cx="7903227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7"/>
              </a:lnSpc>
            </a:pPr>
            <a:r>
              <a:rPr lang="en-US" sz="4500" dirty="0">
                <a:solidFill>
                  <a:schemeClr val="bg1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Where Indian Heritage Meets  Morden Style.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392EDA-31EA-34A9-2269-80983B813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657" y="323850"/>
            <a:ext cx="9561286" cy="975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B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220205"/>
            <a:ext cx="4572000" cy="4066795"/>
            <a:chOff x="0" y="0"/>
            <a:chExt cx="1371555" cy="12199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555" cy="1219999"/>
            </a:xfrm>
            <a:custGeom>
              <a:avLst/>
              <a:gdLst/>
              <a:ahLst/>
              <a:cxnLst/>
              <a:rect l="l" t="t" r="r" b="b"/>
              <a:pathLst>
                <a:path w="1371555" h="1219999">
                  <a:moveTo>
                    <a:pt x="0" y="0"/>
                  </a:moveTo>
                  <a:lnTo>
                    <a:pt x="1371555" y="0"/>
                  </a:lnTo>
                  <a:lnTo>
                    <a:pt x="1371555" y="1219999"/>
                  </a:lnTo>
                  <a:lnTo>
                    <a:pt x="0" y="1219999"/>
                  </a:lnTo>
                  <a:close/>
                </a:path>
              </a:pathLst>
            </a:custGeom>
            <a:blipFill>
              <a:blip r:embed="rId2"/>
              <a:stretch>
                <a:fillRect t="-38002" b="-3800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572000" y="6220205"/>
            <a:ext cx="4572000" cy="4066795"/>
            <a:chOff x="0" y="0"/>
            <a:chExt cx="1371555" cy="12199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71555" cy="1219999"/>
            </a:xfrm>
            <a:custGeom>
              <a:avLst/>
              <a:gdLst/>
              <a:ahLst/>
              <a:cxnLst/>
              <a:rect l="l" t="t" r="r" b="b"/>
              <a:pathLst>
                <a:path w="1371555" h="1219999">
                  <a:moveTo>
                    <a:pt x="0" y="0"/>
                  </a:moveTo>
                  <a:lnTo>
                    <a:pt x="1371555" y="0"/>
                  </a:lnTo>
                  <a:lnTo>
                    <a:pt x="1371555" y="1219999"/>
                  </a:lnTo>
                  <a:lnTo>
                    <a:pt x="0" y="1219999"/>
                  </a:lnTo>
                  <a:close/>
                </a:path>
              </a:pathLst>
            </a:custGeom>
            <a:blipFill>
              <a:blip r:embed="rId3"/>
              <a:stretch>
                <a:fillRect t="-28617" b="-2861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16000" y="6220205"/>
            <a:ext cx="4572000" cy="4066795"/>
            <a:chOff x="0" y="0"/>
            <a:chExt cx="1371555" cy="12199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1555" cy="1219999"/>
            </a:xfrm>
            <a:custGeom>
              <a:avLst/>
              <a:gdLst/>
              <a:ahLst/>
              <a:cxnLst/>
              <a:rect l="l" t="t" r="r" b="b"/>
              <a:pathLst>
                <a:path w="1371555" h="1219999">
                  <a:moveTo>
                    <a:pt x="0" y="0"/>
                  </a:moveTo>
                  <a:lnTo>
                    <a:pt x="1371555" y="0"/>
                  </a:lnTo>
                  <a:lnTo>
                    <a:pt x="1371555" y="1219999"/>
                  </a:lnTo>
                  <a:lnTo>
                    <a:pt x="0" y="1219999"/>
                  </a:lnTo>
                  <a:close/>
                </a:path>
              </a:pathLst>
            </a:custGeom>
            <a:blipFill>
              <a:blip r:embed="rId4"/>
              <a:stretch>
                <a:fillRect t="-14118" b="-11072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144000" y="6220205"/>
            <a:ext cx="4572000" cy="4066795"/>
            <a:chOff x="0" y="0"/>
            <a:chExt cx="1371555" cy="12199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555" cy="1219999"/>
            </a:xfrm>
            <a:custGeom>
              <a:avLst/>
              <a:gdLst/>
              <a:ahLst/>
              <a:cxnLst/>
              <a:rect l="l" t="t" r="r" b="b"/>
              <a:pathLst>
                <a:path w="1371555" h="1219999">
                  <a:moveTo>
                    <a:pt x="0" y="0"/>
                  </a:moveTo>
                  <a:lnTo>
                    <a:pt x="1371555" y="0"/>
                  </a:lnTo>
                  <a:lnTo>
                    <a:pt x="1371555" y="1219999"/>
                  </a:lnTo>
                  <a:lnTo>
                    <a:pt x="0" y="1219999"/>
                  </a:lnTo>
                  <a:close/>
                </a:path>
              </a:pathLst>
            </a:custGeom>
            <a:blipFill>
              <a:blip r:embed="rId5"/>
              <a:stretch>
                <a:fillRect b="-7669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572000" y="1190625"/>
            <a:ext cx="8511357" cy="135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9"/>
              </a:lnSpc>
            </a:pPr>
            <a:r>
              <a:rPr lang="en-US" sz="9999" spc="-669">
                <a:solidFill>
                  <a:srgbClr val="241A1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Brand 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00984" y="2489199"/>
            <a:ext cx="465338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41A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The Brand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0954" y="3520482"/>
            <a:ext cx="17917046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Indus Threads is a modern fashion label that brings together the richness of Indian heritage and today’s style — without making it expensive. We create pieces that look premium, feel comfortable, and stay within reach. For us, it’s not just about clothes — it’s about wearing culture with confidence, in a way that feels effortless and real.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C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1ED1A3-8EAA-ECD6-A9C3-BEC33B752625}"/>
              </a:ext>
            </a:extLst>
          </p:cNvPr>
          <p:cNvSpPr/>
          <p:nvPr/>
        </p:nvSpPr>
        <p:spPr>
          <a:xfrm>
            <a:off x="0" y="27214"/>
            <a:ext cx="18288000" cy="10287000"/>
          </a:xfrm>
          <a:prstGeom prst="rect">
            <a:avLst/>
          </a:prstGeom>
          <a:solidFill>
            <a:srgbClr val="8A5B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097555" y="2074692"/>
            <a:ext cx="7161745" cy="135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9"/>
              </a:lnSpc>
            </a:pPr>
            <a:r>
              <a:rPr lang="en-US" sz="9999" spc="-669" dirty="0">
                <a:solidFill>
                  <a:srgbClr val="241A1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Vision &amp; Mission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97555" y="4007519"/>
            <a:ext cx="465338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241A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Vision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97555" y="4693319"/>
            <a:ext cx="4653388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241A10"/>
                </a:solidFill>
                <a:latin typeface="Montserrat"/>
                <a:ea typeface="Montserrat"/>
                <a:cs typeface="Montserrat"/>
                <a:sym typeface="Montserrat"/>
              </a:rPr>
              <a:t>To make Indian-inspired fashion modern, global, and accessible to everyone.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97555" y="6286704"/>
            <a:ext cx="465338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241A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Mission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97555" y="6851849"/>
            <a:ext cx="4653388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241A10"/>
                </a:solidFill>
                <a:latin typeface="Montserrat"/>
                <a:ea typeface="Montserrat"/>
                <a:cs typeface="Montserrat"/>
                <a:sym typeface="Montserrat"/>
              </a:rPr>
              <a:t>To create premium-looking, culturally rich clothing that stays affordable and wearable for everyday life.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BE302D-4B00-AFCC-4F56-033BD978F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73" y="272261"/>
            <a:ext cx="6896100" cy="9742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65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541655" cy="10287000"/>
            <a:chOff x="0" y="0"/>
            <a:chExt cx="3287544" cy="3544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87544" cy="3544350"/>
            </a:xfrm>
            <a:custGeom>
              <a:avLst/>
              <a:gdLst/>
              <a:ahLst/>
              <a:cxnLst/>
              <a:rect l="l" t="t" r="r" b="b"/>
              <a:pathLst>
                <a:path w="3287544" h="3544350">
                  <a:moveTo>
                    <a:pt x="0" y="0"/>
                  </a:moveTo>
                  <a:lnTo>
                    <a:pt x="3287544" y="0"/>
                  </a:lnTo>
                  <a:lnTo>
                    <a:pt x="3287544" y="3544350"/>
                  </a:lnTo>
                  <a:lnTo>
                    <a:pt x="0" y="3544350"/>
                  </a:lnTo>
                  <a:close/>
                </a:path>
              </a:pathLst>
            </a:custGeom>
            <a:blipFill>
              <a:blip r:embed="rId2"/>
              <a:stretch>
                <a:fillRect t="-918" b="-448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5374801"/>
            <a:ext cx="7323049" cy="4318660"/>
            <a:chOff x="0" y="0"/>
            <a:chExt cx="1928704" cy="1137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8704" cy="1137425"/>
            </a:xfrm>
            <a:custGeom>
              <a:avLst/>
              <a:gdLst/>
              <a:ahLst/>
              <a:cxnLst/>
              <a:rect l="l" t="t" r="r" b="b"/>
              <a:pathLst>
                <a:path w="1928704" h="1137425">
                  <a:moveTo>
                    <a:pt x="0" y="0"/>
                  </a:moveTo>
                  <a:lnTo>
                    <a:pt x="1928704" y="0"/>
                  </a:lnTo>
                  <a:lnTo>
                    <a:pt x="1928704" y="1137425"/>
                  </a:lnTo>
                  <a:lnTo>
                    <a:pt x="0" y="11374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928704" cy="1185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2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512883" y="495549"/>
            <a:ext cx="3068922" cy="4292199"/>
          </a:xfrm>
          <a:custGeom>
            <a:avLst/>
            <a:gdLst/>
            <a:ahLst/>
            <a:cxnLst/>
            <a:rect l="l" t="t" r="r" b="b"/>
            <a:pathLst>
              <a:path w="3068922" h="4292199">
                <a:moveTo>
                  <a:pt x="0" y="0"/>
                </a:moveTo>
                <a:lnTo>
                  <a:pt x="3068922" y="0"/>
                </a:lnTo>
                <a:lnTo>
                  <a:pt x="3068922" y="4292199"/>
                </a:lnTo>
                <a:lnTo>
                  <a:pt x="0" y="4292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020047" y="495549"/>
            <a:ext cx="2955351" cy="4292199"/>
          </a:xfrm>
          <a:custGeom>
            <a:avLst/>
            <a:gdLst/>
            <a:ahLst/>
            <a:cxnLst/>
            <a:rect l="l" t="t" r="r" b="b"/>
            <a:pathLst>
              <a:path w="2955351" h="4292199">
                <a:moveTo>
                  <a:pt x="0" y="0"/>
                </a:moveTo>
                <a:lnTo>
                  <a:pt x="2955352" y="0"/>
                </a:lnTo>
                <a:lnTo>
                  <a:pt x="2955352" y="4292199"/>
                </a:lnTo>
                <a:lnTo>
                  <a:pt x="0" y="429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960" b="-83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55586" y="5083023"/>
            <a:ext cx="6903714" cy="135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9"/>
              </a:lnSpc>
            </a:pPr>
            <a:r>
              <a:rPr lang="en-US" sz="9999" spc="-669">
                <a:solidFill>
                  <a:srgbClr val="241A1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Fabric &amp; Quality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55586" y="6515708"/>
            <a:ext cx="690371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41A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Premium Craftsmanship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55586" y="7144750"/>
            <a:ext cx="6903714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Our products are crafted from high-grade sustainable fabrics, ensuring ethical sourcing and precision tailoring. We maintain quality control at every stage, resulting in designs that prioritize durability and comfort.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9333" y="5561303"/>
            <a:ext cx="6741784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>
              <a:lnSpc>
                <a:spcPts val="4200"/>
              </a:lnSpc>
              <a:buFont typeface="Wingdings" panose="05000000000000000000" pitchFamily="2" charset="2"/>
              <a:buChar char="Ø"/>
            </a:pPr>
            <a:r>
              <a:rPr lang="en-US" sz="300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High-grade sustainable fabrics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9333" y="6742403"/>
            <a:ext cx="4647739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>
              <a:lnSpc>
                <a:spcPts val="4200"/>
              </a:lnSpc>
              <a:buFont typeface="Wingdings" panose="05000000000000000000" pitchFamily="2" charset="2"/>
              <a:buChar char="Ø"/>
            </a:pPr>
            <a:r>
              <a:rPr lang="en-US" sz="300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Ethical sourcing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9333" y="7774101"/>
            <a:ext cx="4647739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>
              <a:lnSpc>
                <a:spcPts val="4200"/>
              </a:lnSpc>
              <a:buFont typeface="Wingdings" panose="05000000000000000000" pitchFamily="2" charset="2"/>
              <a:buChar char="Ø"/>
            </a:pPr>
            <a:r>
              <a:rPr lang="en-US" sz="300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Precision tailoring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9333" y="8797781"/>
            <a:ext cx="6553797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>
              <a:lnSpc>
                <a:spcPts val="4200"/>
              </a:lnSpc>
              <a:buFont typeface="Wingdings" panose="05000000000000000000" pitchFamily="2" charset="2"/>
              <a:buChar char="Ø"/>
            </a:pPr>
            <a:r>
              <a:rPr lang="en-US" sz="300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Quality control at every stage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541655" cy="10287000"/>
            <a:chOff x="0" y="0"/>
            <a:chExt cx="3287544" cy="3544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87544" cy="3544350"/>
            </a:xfrm>
            <a:custGeom>
              <a:avLst/>
              <a:gdLst/>
              <a:ahLst/>
              <a:cxnLst/>
              <a:rect l="l" t="t" r="r" b="b"/>
              <a:pathLst>
                <a:path w="3287544" h="3544350">
                  <a:moveTo>
                    <a:pt x="0" y="0"/>
                  </a:moveTo>
                  <a:lnTo>
                    <a:pt x="3287544" y="0"/>
                  </a:lnTo>
                  <a:lnTo>
                    <a:pt x="3287544" y="3544350"/>
                  </a:lnTo>
                  <a:lnTo>
                    <a:pt x="0" y="3544350"/>
                  </a:lnTo>
                  <a:close/>
                </a:path>
              </a:pathLst>
            </a:custGeom>
            <a:blipFill>
              <a:blip r:embed="rId2"/>
              <a:stretch>
                <a:fillRect t="-32548" b="-3254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4939640"/>
            <a:ext cx="7323049" cy="4318660"/>
            <a:chOff x="0" y="0"/>
            <a:chExt cx="1928704" cy="1137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8704" cy="1137425"/>
            </a:xfrm>
            <a:custGeom>
              <a:avLst/>
              <a:gdLst/>
              <a:ahLst/>
              <a:cxnLst/>
              <a:rect l="l" t="t" r="r" b="b"/>
              <a:pathLst>
                <a:path w="1928704" h="1137425">
                  <a:moveTo>
                    <a:pt x="0" y="0"/>
                  </a:moveTo>
                  <a:lnTo>
                    <a:pt x="1928704" y="0"/>
                  </a:lnTo>
                  <a:lnTo>
                    <a:pt x="1928704" y="1137425"/>
                  </a:lnTo>
                  <a:lnTo>
                    <a:pt x="0" y="1137425"/>
                  </a:lnTo>
                  <a:close/>
                </a:path>
              </a:pathLst>
            </a:custGeom>
            <a:solidFill>
              <a:srgbClr val="A5E3F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928704" cy="1185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2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355586" y="495549"/>
            <a:ext cx="3068922" cy="4292199"/>
          </a:xfrm>
          <a:custGeom>
            <a:avLst/>
            <a:gdLst/>
            <a:ahLst/>
            <a:cxnLst/>
            <a:rect l="l" t="t" r="r" b="b"/>
            <a:pathLst>
              <a:path w="3068922" h="4292199">
                <a:moveTo>
                  <a:pt x="0" y="0"/>
                </a:moveTo>
                <a:lnTo>
                  <a:pt x="3068922" y="0"/>
                </a:lnTo>
                <a:lnTo>
                  <a:pt x="3068922" y="4292199"/>
                </a:lnTo>
                <a:lnTo>
                  <a:pt x="0" y="4292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98" r="-619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807443" y="495549"/>
            <a:ext cx="2955351" cy="4292199"/>
          </a:xfrm>
          <a:custGeom>
            <a:avLst/>
            <a:gdLst/>
            <a:ahLst/>
            <a:cxnLst/>
            <a:rect l="l" t="t" r="r" b="b"/>
            <a:pathLst>
              <a:path w="2955351" h="4292199">
                <a:moveTo>
                  <a:pt x="0" y="0"/>
                </a:moveTo>
                <a:lnTo>
                  <a:pt x="2955352" y="0"/>
                </a:lnTo>
                <a:lnTo>
                  <a:pt x="2955352" y="4292199"/>
                </a:lnTo>
                <a:lnTo>
                  <a:pt x="0" y="429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960" b="-83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55586" y="5083023"/>
            <a:ext cx="6903714" cy="135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9"/>
              </a:lnSpc>
            </a:pPr>
            <a:r>
              <a:rPr lang="en-US" sz="9999" spc="-669">
                <a:solidFill>
                  <a:srgbClr val="241A1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Printing Quality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55586" y="6325208"/>
            <a:ext cx="690371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41A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 to film(DTF)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55586" y="6896708"/>
            <a:ext cx="5829440" cy="3084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Direct to Film (DTF) printing is a highly versatile method that transfers digital designs onto fabric. It is celebrated for producing vibrant, durable prints on almost any material.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29691" y="5325333"/>
            <a:ext cx="4647739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>
              <a:lnSpc>
                <a:spcPts val="42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Vibrant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29691" y="6353022"/>
            <a:ext cx="4647739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>
              <a:lnSpc>
                <a:spcPts val="42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Superior Durability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29691" y="7380711"/>
            <a:ext cx="6329555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>
              <a:lnSpc>
                <a:spcPts val="42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Broad Fabric Compatibility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29691" y="8408400"/>
            <a:ext cx="4647739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>
              <a:lnSpc>
                <a:spcPts val="42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Cost-Effective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799674" cy="10724116"/>
            <a:chOff x="0" y="0"/>
            <a:chExt cx="2580984" cy="28244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0984" cy="2824458"/>
            </a:xfrm>
            <a:custGeom>
              <a:avLst/>
              <a:gdLst/>
              <a:ahLst/>
              <a:cxnLst/>
              <a:rect l="l" t="t" r="r" b="b"/>
              <a:pathLst>
                <a:path w="2580984" h="2824458">
                  <a:moveTo>
                    <a:pt x="0" y="0"/>
                  </a:moveTo>
                  <a:lnTo>
                    <a:pt x="2580984" y="0"/>
                  </a:lnTo>
                  <a:lnTo>
                    <a:pt x="2580984" y="2824458"/>
                  </a:lnTo>
                  <a:lnTo>
                    <a:pt x="0" y="2824458"/>
                  </a:lnTo>
                  <a:close/>
                </a:path>
              </a:pathLst>
            </a:custGeom>
            <a:solidFill>
              <a:srgbClr val="241A1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80984" cy="2872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997323" y="1703878"/>
            <a:ext cx="8093027" cy="6875371"/>
          </a:xfrm>
          <a:custGeom>
            <a:avLst/>
            <a:gdLst/>
            <a:ahLst/>
            <a:cxnLst/>
            <a:rect l="l" t="t" r="r" b="b"/>
            <a:pathLst>
              <a:path w="7605581" h="5704186">
                <a:moveTo>
                  <a:pt x="0" y="0"/>
                </a:moveTo>
                <a:lnTo>
                  <a:pt x="7605580" y="0"/>
                </a:lnTo>
                <a:lnTo>
                  <a:pt x="7605580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598314" y="1638300"/>
            <a:ext cx="8022518" cy="269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97"/>
              </a:lnSpc>
            </a:pPr>
            <a:r>
              <a:rPr lang="en-US" sz="11201" spc="-750" dirty="0">
                <a:solidFill>
                  <a:srgbClr val="241A1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Market Opportunity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8694" y="4884389"/>
            <a:ext cx="690371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241A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Fashion Industry Landscape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8694" y="6242639"/>
            <a:ext cx="8201758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41A10"/>
                </a:solidFill>
                <a:latin typeface="Montserrat"/>
                <a:ea typeface="Montserrat"/>
                <a:cs typeface="Montserrat"/>
                <a:sym typeface="Montserrat"/>
              </a:rPr>
              <a:t>The Indian fashion market — especially the affordable premium segment — is growing rapidly as young consumers want luxury feel without luxury pricing. This creates a strong gap that Indus Threads is perfectly positioned to capture.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A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3485BA7-BAF3-0506-77CD-731AB12E7AF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9B1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0" y="5143500"/>
            <a:ext cx="11203372" cy="5143500"/>
            <a:chOff x="0" y="0"/>
            <a:chExt cx="7720165" cy="3544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20165" cy="3544350"/>
            </a:xfrm>
            <a:custGeom>
              <a:avLst/>
              <a:gdLst/>
              <a:ahLst/>
              <a:cxnLst/>
              <a:rect l="l" t="t" r="r" b="b"/>
              <a:pathLst>
                <a:path w="7720165" h="3544350">
                  <a:moveTo>
                    <a:pt x="0" y="0"/>
                  </a:moveTo>
                  <a:lnTo>
                    <a:pt x="7720165" y="0"/>
                  </a:lnTo>
                  <a:lnTo>
                    <a:pt x="7720165" y="3544350"/>
                  </a:lnTo>
                  <a:lnTo>
                    <a:pt x="0" y="3544350"/>
                  </a:lnTo>
                  <a:close/>
                </a:path>
              </a:pathLst>
            </a:custGeom>
            <a:blipFill>
              <a:blip r:embed="rId2"/>
              <a:stretch>
                <a:fillRect t="-1831" b="-4328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410448" y="627750"/>
            <a:ext cx="8534653" cy="4928474"/>
            <a:chOff x="0" y="-47625"/>
            <a:chExt cx="2338121" cy="1298034"/>
          </a:xfrm>
          <a:solidFill>
            <a:srgbClr val="B6AE82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338121" cy="1250409"/>
            </a:xfrm>
            <a:custGeom>
              <a:avLst/>
              <a:gdLst/>
              <a:ahLst/>
              <a:cxnLst/>
              <a:rect l="l" t="t" r="r" b="b"/>
              <a:pathLst>
                <a:path w="2338121" h="1250409">
                  <a:moveTo>
                    <a:pt x="0" y="0"/>
                  </a:moveTo>
                  <a:lnTo>
                    <a:pt x="2338121" y="0"/>
                  </a:lnTo>
                  <a:lnTo>
                    <a:pt x="2338121" y="1250409"/>
                  </a:lnTo>
                  <a:lnTo>
                    <a:pt x="0" y="1250409"/>
                  </a:lnTo>
                  <a:close/>
                </a:path>
              </a:pathLst>
            </a:custGeom>
            <a:grpFill/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338121" cy="129803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456739" y="5556223"/>
            <a:ext cx="3699146" cy="4674641"/>
          </a:xfrm>
          <a:custGeom>
            <a:avLst/>
            <a:gdLst/>
            <a:ahLst/>
            <a:cxnLst/>
            <a:rect l="l" t="t" r="r" b="b"/>
            <a:pathLst>
              <a:path w="2886747" h="4454516">
                <a:moveTo>
                  <a:pt x="0" y="0"/>
                </a:moveTo>
                <a:lnTo>
                  <a:pt x="2886747" y="0"/>
                </a:lnTo>
                <a:lnTo>
                  <a:pt x="2886747" y="4454516"/>
                </a:lnTo>
                <a:lnTo>
                  <a:pt x="0" y="4454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313" b="-731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759126"/>
            <a:ext cx="6903714" cy="135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9"/>
              </a:lnSpc>
            </a:pPr>
            <a:r>
              <a:rPr lang="en-US" sz="9999" spc="-669">
                <a:solidFill>
                  <a:srgbClr val="241A1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Target Audience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3367" y="4091264"/>
            <a:ext cx="690371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241A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We Design For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83587" y="1041429"/>
            <a:ext cx="7170161" cy="4281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241A10"/>
                </a:solidFill>
                <a:latin typeface="Poppins"/>
                <a:ea typeface="Poppins"/>
                <a:cs typeface="Poppins"/>
                <a:sym typeface="Poppins"/>
              </a:rPr>
              <a:t>Our target audience is young, style-conscious individuals who appreciate Indian culture but prefer a modern, effortless look. They seek clothing that feels premium and expressive, yet remains affordable — allowing them to showcase their identity with confidence every day.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03392" y="1593518"/>
            <a:ext cx="19094784" cy="4197529"/>
            <a:chOff x="0" y="0"/>
            <a:chExt cx="57276810" cy="125909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276808" cy="12590929"/>
            </a:xfrm>
            <a:custGeom>
              <a:avLst/>
              <a:gdLst/>
              <a:ahLst/>
              <a:cxnLst/>
              <a:rect l="l" t="t" r="r" b="b"/>
              <a:pathLst>
                <a:path w="57276808" h="12590929">
                  <a:moveTo>
                    <a:pt x="0" y="0"/>
                  </a:moveTo>
                  <a:lnTo>
                    <a:pt x="57276808" y="0"/>
                  </a:lnTo>
                  <a:lnTo>
                    <a:pt x="57276808" y="12590929"/>
                  </a:lnTo>
                  <a:lnTo>
                    <a:pt x="0" y="12590929"/>
                  </a:lnTo>
                  <a:close/>
                </a:path>
              </a:pathLst>
            </a:custGeom>
            <a:blipFill>
              <a:blip r:embed="rId2"/>
              <a:stretch>
                <a:fillRect t="-46383" b="-463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4934811"/>
            <a:ext cx="16230600" cy="4323489"/>
            <a:chOff x="0" y="0"/>
            <a:chExt cx="4274726" cy="11386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138697"/>
            </a:xfrm>
            <a:custGeom>
              <a:avLst/>
              <a:gdLst/>
              <a:ahLst/>
              <a:cxnLst/>
              <a:rect l="l" t="t" r="r" b="b"/>
              <a:pathLst>
                <a:path w="4274726" h="1138697">
                  <a:moveTo>
                    <a:pt x="0" y="0"/>
                  </a:moveTo>
                  <a:lnTo>
                    <a:pt x="4274726" y="0"/>
                  </a:lnTo>
                  <a:lnTo>
                    <a:pt x="4274726" y="1138697"/>
                  </a:lnTo>
                  <a:lnTo>
                    <a:pt x="0" y="1138697"/>
                  </a:lnTo>
                  <a:close/>
                </a:path>
              </a:pathLst>
            </a:custGeom>
            <a:solidFill>
              <a:srgbClr val="3D3C1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86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197690" y="5305425"/>
            <a:ext cx="7398167" cy="135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9"/>
              </a:lnSpc>
            </a:pPr>
            <a:r>
              <a:rPr lang="en-US" sz="9999" spc="-669">
                <a:solidFill>
                  <a:srgbClr val="42F50D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$ </a:t>
            </a:r>
            <a:r>
              <a:rPr lang="en-US" sz="9999" spc="-669">
                <a:solidFill>
                  <a:srgbClr val="FFFFFF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Pricing Strategy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92143" y="6603999"/>
            <a:ext cx="751589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Accessible  Affordable  Positioning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81279" y="7489824"/>
            <a:ext cx="11325443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Indus Threads follows an affordable premium pricing strategy — offering high-end aesthetics and quality at accessible price points. By positioning between streetwear and luxury, the brand delivers strong value, making customers feel they’re getting more than what they pay for.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E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2392" y="5991870"/>
            <a:ext cx="6366889" cy="2774950"/>
            <a:chOff x="0" y="0"/>
            <a:chExt cx="1676876" cy="7308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876" cy="730851"/>
            </a:xfrm>
            <a:custGeom>
              <a:avLst/>
              <a:gdLst/>
              <a:ahLst/>
              <a:cxnLst/>
              <a:rect l="l" t="t" r="r" b="b"/>
              <a:pathLst>
                <a:path w="1676876" h="730851">
                  <a:moveTo>
                    <a:pt x="0" y="0"/>
                  </a:moveTo>
                  <a:lnTo>
                    <a:pt x="1676876" y="0"/>
                  </a:lnTo>
                  <a:lnTo>
                    <a:pt x="1676876" y="730851"/>
                  </a:lnTo>
                  <a:lnTo>
                    <a:pt x="0" y="730851"/>
                  </a:lnTo>
                  <a:close/>
                </a:path>
              </a:pathLst>
            </a:custGeom>
            <a:ln w="19050" cap="sq">
              <a:solidFill>
                <a:srgbClr val="A5E3F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76876" cy="76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79921" y="0"/>
            <a:ext cx="7608079" cy="10287000"/>
            <a:chOff x="0" y="0"/>
            <a:chExt cx="2621337" cy="35443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21337" cy="3544350"/>
            </a:xfrm>
            <a:custGeom>
              <a:avLst/>
              <a:gdLst/>
              <a:ahLst/>
              <a:cxnLst/>
              <a:rect l="l" t="t" r="r" b="b"/>
              <a:pathLst>
                <a:path w="2621337" h="3544350">
                  <a:moveTo>
                    <a:pt x="0" y="0"/>
                  </a:moveTo>
                  <a:lnTo>
                    <a:pt x="2621337" y="0"/>
                  </a:lnTo>
                  <a:lnTo>
                    <a:pt x="2621337" y="3544350"/>
                  </a:lnTo>
                  <a:lnTo>
                    <a:pt x="0" y="3544350"/>
                  </a:lnTo>
                  <a:close/>
                </a:path>
              </a:pathLst>
            </a:custGeom>
            <a:blipFill>
              <a:blip r:embed="rId2"/>
              <a:stretch>
                <a:fillRect l="-957" r="-95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210385" y="4079445"/>
            <a:ext cx="3444057" cy="6091800"/>
          </a:xfrm>
          <a:custGeom>
            <a:avLst/>
            <a:gdLst/>
            <a:ahLst/>
            <a:cxnLst/>
            <a:rect l="l" t="t" r="r" b="b"/>
            <a:pathLst>
              <a:path w="3444057" h="6091800">
                <a:moveTo>
                  <a:pt x="0" y="0"/>
                </a:moveTo>
                <a:lnTo>
                  <a:pt x="3444057" y="0"/>
                </a:lnTo>
                <a:lnTo>
                  <a:pt x="3444057" y="6091801"/>
                </a:lnTo>
                <a:lnTo>
                  <a:pt x="0" y="6091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55820" y="2987570"/>
            <a:ext cx="9441237" cy="165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71"/>
              </a:lnSpc>
            </a:pPr>
            <a:r>
              <a:rPr lang="en-US" sz="12133" spc="-812">
                <a:solidFill>
                  <a:srgbClr val="241A1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The New Collection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352819"/>
            <a:ext cx="690371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41A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Bold. Refined. Effortless.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152919"/>
            <a:ext cx="658384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41A10"/>
                </a:solidFill>
                <a:latin typeface="Montserrat"/>
                <a:ea typeface="Montserrat"/>
                <a:cs typeface="Montserrat"/>
                <a:sym typeface="Montserrat"/>
              </a:rPr>
              <a:t>This collection represents: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842645"/>
            <a:ext cx="464773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41A10"/>
                </a:solidFill>
                <a:latin typeface="Montserrat"/>
                <a:ea typeface="Montserrat"/>
                <a:cs typeface="Montserrat"/>
                <a:sym typeface="Montserrat"/>
              </a:rPr>
              <a:t> Heritage (Virasat)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490345"/>
            <a:ext cx="464773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41A10"/>
                </a:solidFill>
                <a:latin typeface="Montserrat"/>
                <a:ea typeface="Montserrat"/>
                <a:cs typeface="Montserrat"/>
                <a:sym typeface="Montserrat"/>
              </a:rPr>
              <a:t>Identity (Pehchaan)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087245"/>
            <a:ext cx="464773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41A10"/>
                </a:solidFill>
                <a:latin typeface="Montserrat"/>
                <a:ea typeface="Montserrat"/>
                <a:cs typeface="Montserrat"/>
                <a:sym typeface="Montserrat"/>
              </a:rPr>
              <a:t>. Expression (Abhivyakti)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731770"/>
            <a:ext cx="464773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41A10"/>
                </a:solidFill>
                <a:latin typeface="Montserrat"/>
                <a:ea typeface="Montserrat"/>
                <a:cs typeface="Montserrat"/>
                <a:sym typeface="Montserrat"/>
              </a:rPr>
              <a:t>. Modern Fusion (Nayi Soch)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6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511317" cy="10287000"/>
            <a:chOff x="0" y="0"/>
            <a:chExt cx="127667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6673" cy="1593725"/>
            </a:xfrm>
            <a:custGeom>
              <a:avLst/>
              <a:gdLst/>
              <a:ahLst/>
              <a:cxnLst/>
              <a:rect l="l" t="t" r="r" b="b"/>
              <a:pathLst>
                <a:path w="1276673" h="1593725">
                  <a:moveTo>
                    <a:pt x="0" y="0"/>
                  </a:moveTo>
                  <a:lnTo>
                    <a:pt x="1276673" y="0"/>
                  </a:lnTo>
                  <a:lnTo>
                    <a:pt x="127667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951" b="-1295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703630" y="3619500"/>
            <a:ext cx="9548084" cy="1820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028"/>
              </a:lnSpc>
            </a:pPr>
            <a:r>
              <a:rPr lang="en-US" sz="15697" spc="-1051" dirty="0">
                <a:solidFill>
                  <a:srgbClr val="FFFFFF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THANK   YOU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03630" y="5439550"/>
            <a:ext cx="9431970" cy="303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600" dirty="0">
                <a:solidFill>
                  <a:srgbClr val="FFFFFF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Indus Threads — where tradition isn’t worn, it’s lived.</a:t>
            </a:r>
          </a:p>
          <a:p>
            <a:pPr algn="ctr">
              <a:lnSpc>
                <a:spcPts val="3959"/>
              </a:lnSpc>
            </a:pPr>
            <a:endParaRPr lang="en-US" sz="3600" dirty="0">
              <a:solidFill>
                <a:srgbClr val="FFFFFF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  <a:p>
            <a:pPr algn="ctr">
              <a:lnSpc>
                <a:spcPts val="3959"/>
              </a:lnSpc>
            </a:pPr>
            <a:endParaRPr lang="en-US" sz="3600" dirty="0">
              <a:solidFill>
                <a:srgbClr val="FFFFFF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  <a:p>
            <a:pPr algn="l">
              <a:lnSpc>
                <a:spcPts val="3959"/>
              </a:lnSpc>
            </a:pPr>
            <a:endParaRPr lang="en-US" sz="28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959"/>
              </a:lnSpc>
            </a:pPr>
            <a:endParaRPr lang="en-US" sz="28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403</Words>
  <Application>Microsoft Office PowerPoint</Application>
  <PresentationFormat>Custom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Times New Roman MT Condensed</vt:lpstr>
      <vt:lpstr>Calibri</vt:lpstr>
      <vt:lpstr>Montserrat</vt:lpstr>
      <vt:lpstr>Poppins</vt:lpstr>
      <vt:lpstr>Wingdings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Dell</dc:creator>
  <cp:lastModifiedBy>shweta jarwal</cp:lastModifiedBy>
  <cp:revision>4</cp:revision>
  <dcterms:created xsi:type="dcterms:W3CDTF">2006-08-16T00:00:00Z</dcterms:created>
  <dcterms:modified xsi:type="dcterms:W3CDTF">2026-06-10T07:58:54Z</dcterms:modified>
  <dc:identifier>DAHG7coePM4</dc:identifier>
</cp:coreProperties>
</file>